
<file path=[Content_Types].xml><?xml version="1.0" encoding="utf-8"?>
<Types xmlns="http://schemas.openxmlformats.org/package/2006/content-types">
  <Override PartName="/ppt/slideMasters/slideMaster2.xml" ContentType="application/vnd.openxmlformats-officedocument.presentationml.slideMaster+xml"/>
  <Override PartName="/ppt/slides/slide5.xml" ContentType="application/vnd.openxmlformats-officedocument.presentationml.slide+xml"/>
  <Override PartName="/ppt/slides/slide6.xml" ContentType="application/vnd.openxmlformats-officedocument.presentationml.slide+xml"/>
  <Default Extension="png" ContentType="image/png"/>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tags/tag1.xml" ContentType="application/vnd.openxmlformats-officedocument.presentationml.tags+xml"/>
  <Override PartName="/ppt/slideLayouts/slideLayout1.xml" ContentType="application/vnd.openxmlformats-officedocument.presentationml.slideLayout+xml"/>
  <Override PartName="/docProps/app.xml" ContentType="application/vnd.openxmlformats-officedocument.extended-properties+xml"/>
  <Override PartName="/ppt/authors.xml" ContentType="application/vnd.ms-powerpoint.author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15"/>
  </p:notesMasterIdLst>
  <p:sldIdLst>
    <p:sldId id="256" r:id="rId3"/>
    <p:sldId id="571" r:id="rId4"/>
    <p:sldId id="572" r:id="rId5"/>
    <p:sldId id="573" r:id="rId6"/>
    <p:sldId id="574" r:id="rId7"/>
    <p:sldId id="575" r:id="rId8"/>
    <p:sldId id="576" r:id="rId9"/>
    <p:sldId id="580" r:id="rId10"/>
    <p:sldId id="577" r:id="rId11"/>
    <p:sldId id="579" r:id="rId12"/>
    <p:sldId id="578" r:id="rId13"/>
    <p:sldId id="536" r:id="rId14"/>
  </p:sldIdLst>
  <p:sldSz cx="12192000" cy="6858000"/>
  <p:notesSz cx="6858000" cy="9144000"/>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showGuides="1">
      <p:cViewPr varScale="1">
        <p:scale>
          <a:sx n="74" d="100"/>
          <a:sy n="74" d="100"/>
        </p:scale>
        <p:origin x="-558" y="-90"/>
      </p:cViewPr>
      <p:guideLst>
        <p:guide orient="horz" pos="672"/>
        <p:guide orient="horz" pos="912"/>
        <p:guide pos="312"/>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8/10/relationships/authors" Targe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pPr/>
              <a:t>14/03/2026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pPr/>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pPr/>
              <a:t>12</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pPr/>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pPr/>
              <a:t>3/14/2026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pPr/>
              <a:t>14/03/2026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8" cstate="print">
            <a:extLst>
              <a:ext uri="{28A0092B-C50C-407E-A947-70E740481C1C}">
                <a14:useLocalDpi xmlns:a14="http://schemas.microsoft.com/office/drawing/2010/main" xmlns=""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xmlns="">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hyperlink" Target="https://www.kaggle.com/datasets/benroshan/factors-affecting-campus-placement?utm_source=chatgpt.com"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xmlns="">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517379" y="1343054"/>
            <a:ext cx="4746772" cy="1825149"/>
          </a:xfrm>
          <a:prstGeom prst="rect">
            <a:avLst/>
          </a:prstGeom>
        </p:spPr>
        <p:txBody>
          <a:bodyPr vert="horz" lIns="91440" tIns="45720" rIns="91440" bIns="45720" rtlCol="0" anchor="b">
            <a:normAutofit fontScale="85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r>
              <a:rPr lang="en-US" sz="5100" b="1" dirty="0"/>
              <a:t/>
            </a:r>
            <a:br>
              <a:rPr lang="en-US" sz="5100" b="1" dirty="0"/>
            </a:br>
            <a:r>
              <a:rPr lang="en-US" sz="5100" b="1" cap="all" dirty="0">
                <a:latin typeface="Aptos"/>
              </a:rPr>
              <a:t>PROJECT TITLE</a:t>
            </a:r>
            <a:endParaRPr lang="en-US" sz="5100" dirty="0">
              <a:latin typeface="Aptos"/>
            </a:endParaRPr>
          </a:p>
          <a:p>
            <a:pPr algn="l"/>
            <a:endParaRPr lang="en-US" sz="5100" b="1" kern="1200" dirty="0"/>
          </a:p>
        </p:txBody>
      </p:sp>
      <p:sp>
        <p:nvSpPr>
          <p:cNvPr id="5" name="Subtitle 2"/>
          <p:cNvSpPr>
            <a:spLocks noGrp="1"/>
          </p:cNvSpPr>
          <p:nvPr/>
        </p:nvSpPr>
        <p:spPr>
          <a:xfrm>
            <a:off x="594127" y="2897746"/>
            <a:ext cx="4166512" cy="2757681"/>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 </a:t>
            </a:r>
            <a:r>
              <a:rPr lang="en-US" sz="1600" b="1" cap="all" dirty="0" err="1"/>
              <a:t>Animalla</a:t>
            </a:r>
            <a:r>
              <a:rPr lang="en-US" sz="1600" b="1" cap="all" dirty="0"/>
              <a:t> Vimal Kumar</a:t>
            </a:r>
          </a:p>
          <a:p>
            <a:pPr algn="l">
              <a:spcAft>
                <a:spcPts val="600"/>
              </a:spcAft>
            </a:pPr>
            <a:r>
              <a:rPr lang="en-US" sz="1600" b="1" cap="all" dirty="0"/>
              <a:t>College Name : Guru </a:t>
            </a:r>
            <a:r>
              <a:rPr lang="en-US" sz="1600" b="1" cap="all" dirty="0" err="1"/>
              <a:t>nanak</a:t>
            </a:r>
            <a:r>
              <a:rPr lang="en-US" sz="1600" b="1" cap="all" dirty="0"/>
              <a:t> institute of technology</a:t>
            </a:r>
          </a:p>
          <a:p>
            <a:pPr algn="l">
              <a:spcAft>
                <a:spcPts val="600"/>
              </a:spcAft>
            </a:pPr>
            <a:r>
              <a:rPr lang="en-US" sz="1600" b="1" cap="all" dirty="0"/>
              <a:t>Department : computer science and engineering</a:t>
            </a:r>
          </a:p>
          <a:p>
            <a:pPr algn="l">
              <a:spcAft>
                <a:spcPts val="600"/>
              </a:spcAft>
            </a:pPr>
            <a:r>
              <a:rPr lang="en-US" sz="1600" b="1" cap="all" dirty="0"/>
              <a:t>Email ID:</a:t>
            </a:r>
            <a:r>
              <a:rPr lang="en-US" sz="1600" b="1" dirty="0"/>
              <a:t>avimal94924@gmail.com</a:t>
            </a:r>
            <a:endParaRPr lang="en-US" sz="1600" b="1" cap="all" dirty="0"/>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p:cNvPicPr>
            <a:picLocks noChangeAspect="1"/>
          </p:cNvPicPr>
          <p:nvPr/>
        </p:nvPicPr>
        <p:blipFill>
          <a:blip r:embed="rId5" cstate="print"/>
          <a:stretch>
            <a:fillRect/>
          </a:stretch>
        </p:blipFill>
        <p:spPr>
          <a:xfrm>
            <a:off x="6627965" y="963029"/>
            <a:ext cx="4154834" cy="4936489"/>
          </a:xfrm>
          <a:prstGeom prst="rect">
            <a:avLst/>
          </a:prstGeom>
        </p:spPr>
      </p:pic>
    </p:spTree>
    <p:custDataLst>
      <p:tags r:id="rId1"/>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panose="020B0604020202020204"/>
                <a:cs typeface="Arial" panose="020B0604020202020204"/>
              </a:rPr>
              <a:t>OUTLINE:</a:t>
            </a:r>
            <a:endParaRPr lang="en-US" sz="54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panose="020B0604020202020204"/>
                <a:cs typeface="Arial" panose="020B0604020202020204"/>
              </a:rPr>
              <a:t>Problem Statement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Proposed System/Solution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System Development Approach </a:t>
            </a:r>
            <a:r>
              <a:rPr lang="en-US" sz="2200" dirty="0">
                <a:latin typeface="Arial" panose="020B0604020202020204"/>
                <a:cs typeface="Arial" panose="020B0604020202020204"/>
              </a:rPr>
              <a:t>(Technology Used) </a:t>
            </a:r>
          </a:p>
          <a:p>
            <a:pPr marL="305435" indent="-305435">
              <a:spcBef>
                <a:spcPct val="20000"/>
              </a:spcBef>
              <a:spcAft>
                <a:spcPts val="600"/>
              </a:spcAft>
            </a:pPr>
            <a:r>
              <a:rPr lang="en-US" sz="2200" b="1" dirty="0">
                <a:latin typeface="Arial" panose="020B0604020202020204"/>
                <a:cs typeface="Arial" panose="020B0604020202020204"/>
              </a:rPr>
              <a:t>Algorithm &amp; Deployment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Result (Output Image)</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Conclusion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Future Scope</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References</a:t>
            </a:r>
            <a:endParaRPr lang="en-US" sz="2200" dirty="0">
              <a:latin typeface="Arial" panose="020B0604020202020204"/>
              <a:cs typeface="Arial" panose="020B0604020202020204"/>
            </a:endParaRPr>
          </a:p>
          <a:p>
            <a:endParaRPr lang="en-GB" sz="2200" dirty="0">
              <a:latin typeface="Aptos"/>
              <a:cs typeface="Arial" panose="020B0604020202020204"/>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Problem Statement:</a:t>
            </a:r>
            <a:endParaRPr lang="en-US" sz="4000"/>
          </a:p>
        </p:txBody>
      </p:sp>
      <p:sp>
        <p:nvSpPr>
          <p:cNvPr id="3" name="Content Placeholder 2"/>
          <p:cNvSpPr>
            <a:spLocks noGrp="1"/>
          </p:cNvSpPr>
          <p:nvPr>
            <p:ph idx="1"/>
          </p:nvPr>
        </p:nvSpPr>
        <p:spPr>
          <a:xfrm>
            <a:off x="290512" y="1715071"/>
            <a:ext cx="5826953" cy="4251960"/>
          </a:xfrm>
        </p:spPr>
        <p:txBody>
          <a:bodyPr vert="horz" lIns="91440" tIns="45720" rIns="91440" bIns="45720" rtlCol="0">
            <a:normAutofit/>
          </a:bodyPr>
          <a:lstStyle/>
          <a:p>
            <a:pPr>
              <a:buFont typeface="Courier New" pitchFamily="49" charset="0"/>
              <a:buChar char="o"/>
            </a:pPr>
            <a:r>
              <a:rPr lang="en-IN" sz="1400" dirty="0" smtClean="0"/>
              <a:t>Colleges and universities generate a large volume of placement-related data every year, including information about student demographics, academic performance, degree background, specialization, work experience, and salary packages offered by recruiting companies. This data holds valuable insights that can help institutions evaluate the effectiveness of their training programs and understand the factors that influence student placement success. However, in many institutions, this data is stored in spreadsheets or databases without proper analytical tools to interpret it effectively. As a result, analyzing placement data manually becomes a difficult and time-consuming process.</a:t>
            </a:r>
          </a:p>
          <a:p>
            <a:pPr>
              <a:buFont typeface="Courier New" pitchFamily="49" charset="0"/>
              <a:buChar char="o"/>
            </a:pPr>
            <a:r>
              <a:rPr lang="en-IN" sz="1400" dirty="0" smtClean="0"/>
              <a:t>Manual analysis often leads to incomplete insights, errors, and difficulty in identifying important trends. For example, placement cells may find it challenging to determine which specialization leads to higher placement rates or which academic factors significantly influence salary packages. Without proper visualization and analysis, institutions cannot clearly identify patterns such as the relationship between work experience and placement success or how different degree backgrounds impact employability.</a:t>
            </a:r>
          </a:p>
          <a:p>
            <a:pPr algn="just">
              <a:buFont typeface="Courier New" pitchFamily="49" charset="0"/>
              <a:buChar char="o"/>
            </a:pPr>
            <a:endParaRPr lang="en-US" sz="1400" dirty="0">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2" cstate="print"/>
          <a:srcRect/>
          <a:stretch>
            <a:fillRect/>
          </a:stretch>
        </p:blipFill>
        <p:spPr bwMode="auto">
          <a:xfrm>
            <a:off x="6593984" y="1094391"/>
            <a:ext cx="5410713" cy="54483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panose="020B0604020202020204"/>
                <a:cs typeface="Arial" panose="020B0604020202020204"/>
              </a:rPr>
              <a:t>Proposed Solution:</a:t>
            </a:r>
            <a:endParaRPr lang="en-US" sz="4000" dirty="0"/>
          </a:p>
        </p:txBody>
      </p:sp>
      <p:sp>
        <p:nvSpPr>
          <p:cNvPr id="3" name="Content Placeholder 2"/>
          <p:cNvSpPr>
            <a:spLocks noGrp="1"/>
          </p:cNvSpPr>
          <p:nvPr>
            <p:ph idx="1"/>
          </p:nvPr>
        </p:nvSpPr>
        <p:spPr>
          <a:xfrm>
            <a:off x="219075" y="1674254"/>
            <a:ext cx="11802596" cy="3882012"/>
          </a:xfrm>
        </p:spPr>
        <p:txBody>
          <a:bodyPr vert="horz" lIns="91440" tIns="45720" rIns="91440" bIns="45720" rtlCol="0" anchor="t">
            <a:noAutofit/>
          </a:bodyPr>
          <a:lstStyle/>
          <a:p>
            <a:pPr marL="0" indent="0">
              <a:lnSpc>
                <a:spcPct val="150000"/>
              </a:lnSpc>
              <a:buNone/>
            </a:pPr>
            <a:r>
              <a:rPr lang="en-US" sz="1400" dirty="0">
                <a:latin typeface="Times New Roman" panose="02020603050405020304" pitchFamily="18" charset="0"/>
                <a:cs typeface="Times New Roman" panose="02020603050405020304" pitchFamily="18" charset="0"/>
              </a:rPr>
              <a:t>The proposed system is a </a:t>
            </a:r>
            <a:r>
              <a:rPr lang="en-US" sz="1400" b="1" dirty="0">
                <a:latin typeface="Times New Roman" panose="02020603050405020304" pitchFamily="18" charset="0"/>
                <a:cs typeface="Times New Roman" panose="02020603050405020304" pitchFamily="18" charset="0"/>
              </a:rPr>
              <a:t>Campus Placement Analysis Dashboard</a:t>
            </a:r>
            <a:r>
              <a:rPr lang="en-US" sz="1400" dirty="0">
                <a:latin typeface="Times New Roman" panose="02020603050405020304" pitchFamily="18" charset="0"/>
                <a:cs typeface="Times New Roman" panose="02020603050405020304" pitchFamily="18" charset="0"/>
              </a:rPr>
              <a:t> developed using </a:t>
            </a:r>
            <a:r>
              <a:rPr lang="en-US" sz="1400" b="1" dirty="0">
                <a:latin typeface="Times New Roman" panose="02020603050405020304" pitchFamily="18" charset="0"/>
                <a:cs typeface="Times New Roman" panose="02020603050405020304" pitchFamily="18" charset="0"/>
              </a:rPr>
              <a:t>Power BI</a:t>
            </a:r>
            <a:r>
              <a:rPr lang="en-US" sz="1400" dirty="0">
                <a:latin typeface="Times New Roman" panose="02020603050405020304" pitchFamily="18" charset="0"/>
                <a:cs typeface="Times New Roman" panose="02020603050405020304" pitchFamily="18" charset="0"/>
              </a:rPr>
              <a:t> to analyze and visualize student placement data in an interactive and easy-to-understand format. The dashboard integrates multiple placement parameters such as student count, placement status, degree type, </a:t>
            </a:r>
            <a:r>
              <a:rPr lang="en-US" sz="1400" dirty="0" smtClean="0">
                <a:latin typeface="Times New Roman" panose="02020603050405020304" pitchFamily="18" charset="0"/>
                <a:cs typeface="Times New Roman" panose="02020603050405020304" pitchFamily="18" charset="0"/>
              </a:rPr>
              <a:t>specialization, </a:t>
            </a:r>
            <a:r>
              <a:rPr lang="en-US" sz="1400" dirty="0" err="1" smtClean="0">
                <a:latin typeface="Times New Roman" panose="02020603050405020304" pitchFamily="18" charset="0"/>
                <a:cs typeface="Times New Roman" panose="02020603050405020304" pitchFamily="18" charset="0"/>
              </a:rPr>
              <a:t>gender,andsalarypackagestoprovidemeaningfulinsights</a:t>
            </a:r>
            <a:r>
              <a:rPr lang="en-US" sz="1400" dirty="0">
                <a:latin typeface="Times New Roman" panose="02020603050405020304" pitchFamily="18" charset="0"/>
                <a:cs typeface="Times New Roman" panose="02020603050405020304" pitchFamily="18" charset="0"/>
              </a:rPr>
              <a:t>.</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Interactive visualizations are used to analyze placement trends:</a:t>
            </a:r>
          </a:p>
          <a:p>
            <a:pPr algn="just">
              <a:lnSpc>
                <a:spcPct val="150000"/>
              </a:lnSpc>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Pie/Donut Chart:</a:t>
            </a:r>
            <a:r>
              <a:rPr lang="en-US" sz="1400" dirty="0">
                <a:latin typeface="Times New Roman" panose="02020603050405020304" pitchFamily="18" charset="0"/>
                <a:cs typeface="Times New Roman" panose="02020603050405020304" pitchFamily="18" charset="0"/>
              </a:rPr>
              <a:t> Shows the distribution of </a:t>
            </a:r>
            <a:r>
              <a:rPr lang="en-US" sz="1400" b="1" dirty="0">
                <a:latin typeface="Times New Roman" panose="02020603050405020304" pitchFamily="18" charset="0"/>
                <a:cs typeface="Times New Roman" panose="02020603050405020304" pitchFamily="18" charset="0"/>
              </a:rPr>
              <a:t>placed vs not placed students</a:t>
            </a:r>
            <a:r>
              <a:rPr lang="en-US" sz="1400" dirty="0">
                <a:latin typeface="Times New Roman" panose="02020603050405020304" pitchFamily="18" charset="0"/>
                <a:cs typeface="Times New Roman" panose="02020603050405020304" pitchFamily="18" charset="0"/>
              </a:rPr>
              <a:t>.</a:t>
            </a:r>
          </a:p>
          <a:p>
            <a:pPr algn="just">
              <a:lnSpc>
                <a:spcPct val="150000"/>
              </a:lnSpc>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Bar Chart:</a:t>
            </a:r>
            <a:r>
              <a:rPr lang="en-US" sz="1400" dirty="0">
                <a:latin typeface="Times New Roman" panose="02020603050405020304" pitchFamily="18" charset="0"/>
                <a:cs typeface="Times New Roman" panose="02020603050405020304" pitchFamily="18" charset="0"/>
              </a:rPr>
              <a:t> Displays placement distribution based on </a:t>
            </a:r>
            <a:r>
              <a:rPr lang="en-US" sz="1400" b="1" dirty="0">
                <a:latin typeface="Times New Roman" panose="02020603050405020304" pitchFamily="18" charset="0"/>
                <a:cs typeface="Times New Roman" panose="02020603050405020304" pitchFamily="18" charset="0"/>
              </a:rPr>
              <a:t>degree type (Comm &amp; </a:t>
            </a:r>
            <a:r>
              <a:rPr lang="en-US" sz="1400" b="1" dirty="0" err="1">
                <a:latin typeface="Times New Roman" panose="02020603050405020304" pitchFamily="18" charset="0"/>
                <a:cs typeface="Times New Roman" panose="02020603050405020304" pitchFamily="18" charset="0"/>
              </a:rPr>
              <a:t>Mgmt</a:t>
            </a:r>
            <a:r>
              <a:rPr lang="en-US" sz="1400" b="1" dirty="0">
                <a:latin typeface="Times New Roman" panose="02020603050405020304" pitchFamily="18" charset="0"/>
                <a:cs typeface="Times New Roman" panose="02020603050405020304" pitchFamily="18" charset="0"/>
              </a:rPr>
              <a:t>, Sci &amp; Tech, Others)</a:t>
            </a:r>
            <a:r>
              <a:rPr lang="en-US" sz="1400" dirty="0">
                <a:latin typeface="Times New Roman" panose="02020603050405020304" pitchFamily="18" charset="0"/>
                <a:cs typeface="Times New Roman" panose="02020603050405020304" pitchFamily="18" charset="0"/>
              </a:rPr>
              <a:t>.</a:t>
            </a:r>
          </a:p>
          <a:p>
            <a:pPr algn="just">
              <a:lnSpc>
                <a:spcPct val="150000"/>
              </a:lnSpc>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Column Chart:</a:t>
            </a:r>
            <a:r>
              <a:rPr lang="en-US" sz="1400" dirty="0">
                <a:latin typeface="Times New Roman" panose="02020603050405020304" pitchFamily="18" charset="0"/>
                <a:cs typeface="Times New Roman" panose="02020603050405020304" pitchFamily="18" charset="0"/>
              </a:rPr>
              <a:t> Analyzes </a:t>
            </a:r>
            <a:r>
              <a:rPr lang="en-US" sz="1400" b="1" dirty="0">
                <a:latin typeface="Times New Roman" panose="02020603050405020304" pitchFamily="18" charset="0"/>
                <a:cs typeface="Times New Roman" panose="02020603050405020304" pitchFamily="18" charset="0"/>
              </a:rPr>
              <a:t>specialization and salary distribution</a:t>
            </a:r>
            <a:r>
              <a:rPr lang="en-US" sz="1400" dirty="0">
                <a:latin typeface="Times New Roman" panose="02020603050405020304" pitchFamily="18" charset="0"/>
                <a:cs typeface="Times New Roman" panose="02020603050405020304" pitchFamily="18" charset="0"/>
              </a:rPr>
              <a:t>.</a:t>
            </a:r>
          </a:p>
          <a:p>
            <a:pPr algn="just">
              <a:lnSpc>
                <a:spcPct val="150000"/>
              </a:lnSpc>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Scatter Plot:</a:t>
            </a:r>
            <a:r>
              <a:rPr lang="en-US" sz="1400" dirty="0">
                <a:latin typeface="Times New Roman" panose="02020603050405020304" pitchFamily="18" charset="0"/>
                <a:cs typeface="Times New Roman" panose="02020603050405020304" pitchFamily="18" charset="0"/>
              </a:rPr>
              <a:t> Shows the relationship between </a:t>
            </a:r>
            <a:r>
              <a:rPr lang="en-US" sz="1400" b="1" dirty="0">
                <a:latin typeface="Times New Roman" panose="02020603050405020304" pitchFamily="18" charset="0"/>
                <a:cs typeface="Times New Roman" panose="02020603050405020304" pitchFamily="18" charset="0"/>
              </a:rPr>
              <a:t>degree percentage and salary package</a:t>
            </a:r>
            <a:endParaRPr lang="en-US" sz="1400" dirty="0">
              <a:latin typeface="Times New Roman" panose="02020603050405020304" pitchFamily="18" charset="0"/>
              <a:cs typeface="Times New Roman" panose="02020603050405020304" pitchFamily="18" charset="0"/>
            </a:endParaRPr>
          </a:p>
          <a:p>
            <a:pPr marL="0" indent="0" algn="just">
              <a:lnSpc>
                <a:spcPct val="150000"/>
              </a:lnSpc>
              <a:buNone/>
            </a:pPr>
            <a:r>
              <a:rPr lang="en-US" sz="1400" dirty="0">
                <a:latin typeface="Times New Roman" panose="02020603050405020304" pitchFamily="18" charset="0"/>
                <a:cs typeface="Times New Roman" panose="02020603050405020304" pitchFamily="18" charset="0"/>
              </a:rPr>
              <a:t>Filters such as </a:t>
            </a:r>
            <a:r>
              <a:rPr lang="en-US" sz="1400" b="1" dirty="0">
                <a:latin typeface="Times New Roman" panose="02020603050405020304" pitchFamily="18" charset="0"/>
                <a:cs typeface="Times New Roman" panose="02020603050405020304" pitchFamily="18" charset="0"/>
              </a:rPr>
              <a:t>gender, degree type, specialization, and work experience</a:t>
            </a:r>
            <a:r>
              <a:rPr lang="en-US" sz="1400" dirty="0">
                <a:latin typeface="Times New Roman" panose="02020603050405020304" pitchFamily="18" charset="0"/>
                <a:cs typeface="Times New Roman" panose="02020603050405020304" pitchFamily="18" charset="0"/>
              </a:rPr>
              <a:t> allow users to dynamically explore the data and identify placement patterns. This enables institutions to easily evaluate placement performance and understand which academic backgrounds or specializations have higher placement success.</a:t>
            </a:r>
          </a:p>
          <a:p>
            <a:pPr marL="0" indent="0" algn="just">
              <a:lnSpc>
                <a:spcPct val="150000"/>
              </a:lnSpc>
              <a:buNone/>
            </a:pPr>
            <a:r>
              <a:rPr lang="en-US" sz="1400" dirty="0">
                <a:latin typeface="Times New Roman" panose="02020603050405020304" pitchFamily="18" charset="0"/>
                <a:cs typeface="Times New Roman" panose="02020603050405020304" pitchFamily="18" charset="0"/>
              </a:rPr>
              <a:t>Overall, the dashboard provides </a:t>
            </a:r>
            <a:r>
              <a:rPr lang="en-US" sz="1400" b="1" dirty="0">
                <a:latin typeface="Times New Roman" panose="02020603050405020304" pitchFamily="18" charset="0"/>
                <a:cs typeface="Times New Roman" panose="02020603050405020304" pitchFamily="18" charset="0"/>
              </a:rPr>
              <a:t>real-time visual insights</a:t>
            </a:r>
            <a:r>
              <a:rPr lang="en-US" sz="1400" dirty="0">
                <a:latin typeface="Times New Roman" panose="02020603050405020304" pitchFamily="18" charset="0"/>
                <a:cs typeface="Times New Roman" panose="02020603050405020304" pitchFamily="18" charset="0"/>
              </a:rPr>
              <a:t>, helping placement officers and institutions make informed decisions to improve placement strategies and student outcomes</a:t>
            </a:r>
          </a:p>
          <a:p>
            <a:pPr marL="0" indent="0" algn="just">
              <a:lnSpc>
                <a:spcPct val="150000"/>
              </a:lnSpc>
              <a:spcBef>
                <a:spcPct val="20000"/>
              </a:spcBef>
              <a:spcAft>
                <a:spcPts val="600"/>
              </a:spcAft>
              <a:buNone/>
            </a:pPr>
            <a:endParaRPr lang="en-GB"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4000" b="1" cap="all" dirty="0">
                <a:latin typeface="Arial" panose="020B0604020202020204"/>
                <a:cs typeface="Arial" panose="020B0604020202020204"/>
              </a:rPr>
              <a:t>System  Approach:</a:t>
            </a:r>
            <a:endParaRPr lang="en-US" sz="4000" dirty="0"/>
          </a:p>
        </p:txBody>
      </p:sp>
      <p:sp>
        <p:nvSpPr>
          <p:cNvPr id="3" name="Content Placeholder 2"/>
          <p:cNvSpPr>
            <a:spLocks noGrp="1"/>
          </p:cNvSpPr>
          <p:nvPr>
            <p:ph idx="1"/>
          </p:nvPr>
        </p:nvSpPr>
        <p:spPr>
          <a:xfrm>
            <a:off x="555812" y="1470212"/>
            <a:ext cx="11412069" cy="5226423"/>
          </a:xfrm>
        </p:spPr>
        <p:txBody>
          <a:bodyPr vert="horz" lIns="91440" tIns="45720" rIns="91440" bIns="45720" rtlCol="0" anchor="ctr">
            <a:noAutofit/>
          </a:bodyPr>
          <a:lstStyle/>
          <a:p>
            <a:pPr algn="just">
              <a:lnSpc>
                <a:spcPct val="170000"/>
              </a:lnSpc>
              <a:buFont typeface="Wingdings" panose="05000000000000000000" pitchFamily="2" charset="2"/>
              <a:buChar char="q"/>
            </a:pPr>
            <a:r>
              <a:rPr lang="en-US" sz="1400" dirty="0">
                <a:latin typeface="Times New Roman" panose="02020603050405020304" pitchFamily="18" charset="0"/>
                <a:cs typeface="Times New Roman" panose="02020603050405020304" pitchFamily="18" charset="0"/>
              </a:rPr>
              <a:t>The system is developed using </a:t>
            </a:r>
            <a:r>
              <a:rPr lang="en-US" sz="1400" b="1" dirty="0">
                <a:latin typeface="Times New Roman" panose="02020603050405020304" pitchFamily="18" charset="0"/>
                <a:cs typeface="Times New Roman" panose="02020603050405020304" pitchFamily="18" charset="0"/>
              </a:rPr>
              <a:t>Power BI</a:t>
            </a:r>
            <a:r>
              <a:rPr lang="en-US" sz="1400" dirty="0">
                <a:latin typeface="Times New Roman" panose="02020603050405020304" pitchFamily="18" charset="0"/>
                <a:cs typeface="Times New Roman" panose="02020603050405020304" pitchFamily="18" charset="0"/>
              </a:rPr>
              <a:t> to analyze and visualize campus placement data through an interactive dashboard. The development approach follows a structured process starting from data collection to visualization and analysis.</a:t>
            </a:r>
          </a:p>
          <a:p>
            <a:pPr algn="just">
              <a:lnSpc>
                <a:spcPct val="170000"/>
              </a:lnSpc>
              <a:buFont typeface="Wingdings" panose="05000000000000000000" pitchFamily="2" charset="2"/>
              <a:buChar char="q"/>
            </a:pPr>
            <a:r>
              <a:rPr lang="en-US" sz="1400" dirty="0">
                <a:latin typeface="Times New Roman" panose="02020603050405020304" pitchFamily="18" charset="0"/>
                <a:cs typeface="Times New Roman" panose="02020603050405020304" pitchFamily="18" charset="0"/>
              </a:rPr>
              <a:t>First, the </a:t>
            </a:r>
            <a:r>
              <a:rPr lang="en-US" sz="1400" b="1" dirty="0">
                <a:latin typeface="Times New Roman" panose="02020603050405020304" pitchFamily="18" charset="0"/>
                <a:cs typeface="Times New Roman" panose="02020603050405020304" pitchFamily="18" charset="0"/>
              </a:rPr>
              <a:t>placement dataset</a:t>
            </a:r>
            <a:r>
              <a:rPr lang="en-US" sz="1400" dirty="0">
                <a:latin typeface="Times New Roman" panose="02020603050405020304" pitchFamily="18" charset="0"/>
                <a:cs typeface="Times New Roman" panose="02020603050405020304" pitchFamily="18" charset="0"/>
              </a:rPr>
              <a:t> containing student information such as gender, degree type, specialization, work experience, salary, and placement status is imported into Power BI. The data is then cleaned and transformed using </a:t>
            </a:r>
            <a:r>
              <a:rPr lang="en-US" sz="1400" b="1" dirty="0">
                <a:latin typeface="Times New Roman" panose="02020603050405020304" pitchFamily="18" charset="0"/>
                <a:cs typeface="Times New Roman" panose="02020603050405020304" pitchFamily="18" charset="0"/>
              </a:rPr>
              <a:t>Power Query</a:t>
            </a:r>
            <a:r>
              <a:rPr lang="en-US" sz="1400" dirty="0">
                <a:latin typeface="Times New Roman" panose="02020603050405020304" pitchFamily="18" charset="0"/>
                <a:cs typeface="Times New Roman" panose="02020603050405020304" pitchFamily="18" charset="0"/>
              </a:rPr>
              <a:t> to remove inconsistencies and prepare it for analysis.</a:t>
            </a:r>
          </a:p>
          <a:p>
            <a:pPr algn="just">
              <a:lnSpc>
                <a:spcPct val="170000"/>
              </a:lnSpc>
              <a:buFont typeface="Wingdings" panose="05000000000000000000" pitchFamily="2" charset="2"/>
              <a:buChar char="q"/>
            </a:pPr>
            <a:r>
              <a:rPr lang="en-US" sz="1400" dirty="0">
                <a:latin typeface="Times New Roman" panose="02020603050405020304" pitchFamily="18" charset="0"/>
                <a:cs typeface="Times New Roman" panose="02020603050405020304" pitchFamily="18" charset="0"/>
              </a:rPr>
              <a:t>Next, </a:t>
            </a:r>
            <a:r>
              <a:rPr lang="en-US" sz="1400" b="1" dirty="0">
                <a:latin typeface="Times New Roman" panose="02020603050405020304" pitchFamily="18" charset="0"/>
                <a:cs typeface="Times New Roman" panose="02020603050405020304" pitchFamily="18" charset="0"/>
              </a:rPr>
              <a:t>data modeling and calculations</a:t>
            </a:r>
            <a:r>
              <a:rPr lang="en-US" sz="1400" dirty="0">
                <a:latin typeface="Times New Roman" panose="02020603050405020304" pitchFamily="18" charset="0"/>
                <a:cs typeface="Times New Roman" panose="02020603050405020304" pitchFamily="18" charset="0"/>
              </a:rPr>
              <a:t> are performed to generate key metrics such as </a:t>
            </a:r>
            <a:r>
              <a:rPr lang="en-US" sz="1400" b="1" dirty="0">
                <a:latin typeface="Times New Roman" panose="02020603050405020304" pitchFamily="18" charset="0"/>
                <a:cs typeface="Times New Roman" panose="02020603050405020304" pitchFamily="18" charset="0"/>
              </a:rPr>
              <a:t>Total Students, Placed Students, and Placement Rate</a:t>
            </a:r>
            <a:r>
              <a:rPr lang="en-US" sz="1400" dirty="0">
                <a:latin typeface="Times New Roman" panose="02020603050405020304" pitchFamily="18" charset="0"/>
                <a:cs typeface="Times New Roman" panose="02020603050405020304" pitchFamily="18" charset="0"/>
              </a:rPr>
              <a:t>. These values are displayed using KPI cards to provide a quick overview of placement performance.</a:t>
            </a:r>
          </a:p>
          <a:p>
            <a:pPr marL="0" indent="0" algn="just">
              <a:lnSpc>
                <a:spcPct val="170000"/>
              </a:lnSpc>
              <a:buNone/>
            </a:pPr>
            <a:r>
              <a:rPr lang="en-US" sz="1400" dirty="0">
                <a:latin typeface="Times New Roman" panose="02020603050405020304" pitchFamily="18" charset="0"/>
                <a:cs typeface="Times New Roman" panose="02020603050405020304" pitchFamily="18" charset="0"/>
              </a:rPr>
              <a:t>The system then uses multiple </a:t>
            </a:r>
            <a:r>
              <a:rPr lang="en-US" sz="1400" b="1" dirty="0">
                <a:latin typeface="Times New Roman" panose="02020603050405020304" pitchFamily="18" charset="0"/>
                <a:cs typeface="Times New Roman" panose="02020603050405020304" pitchFamily="18" charset="0"/>
              </a:rPr>
              <a:t>visualization techniques</a:t>
            </a:r>
            <a:r>
              <a:rPr lang="en-US" sz="1400" dirty="0">
                <a:latin typeface="Times New Roman" panose="02020603050405020304" pitchFamily="18" charset="0"/>
                <a:cs typeface="Times New Roman" panose="02020603050405020304" pitchFamily="18" charset="0"/>
              </a:rPr>
              <a:t> to represent placement insights:</a:t>
            </a:r>
          </a:p>
          <a:p>
            <a:pPr algn="just">
              <a:lnSpc>
                <a:spcPct val="17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Donut Chart:</a:t>
            </a:r>
            <a:r>
              <a:rPr lang="en-US" sz="1400" dirty="0">
                <a:latin typeface="Times New Roman" panose="02020603050405020304" pitchFamily="18" charset="0"/>
                <a:cs typeface="Times New Roman" panose="02020603050405020304" pitchFamily="18" charset="0"/>
              </a:rPr>
              <a:t> Displays the proportion of placed and not placed students.</a:t>
            </a:r>
          </a:p>
          <a:p>
            <a:pPr algn="just">
              <a:lnSpc>
                <a:spcPct val="17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Bar Chart:</a:t>
            </a:r>
            <a:r>
              <a:rPr lang="en-US" sz="1400" dirty="0">
                <a:latin typeface="Times New Roman" panose="02020603050405020304" pitchFamily="18" charset="0"/>
                <a:cs typeface="Times New Roman" panose="02020603050405020304" pitchFamily="18" charset="0"/>
              </a:rPr>
              <a:t> Shows placement distribution across different degree types.</a:t>
            </a:r>
          </a:p>
          <a:p>
            <a:pPr algn="just">
              <a:lnSpc>
                <a:spcPct val="17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Column Chart:</a:t>
            </a:r>
            <a:r>
              <a:rPr lang="en-US" sz="1400" dirty="0">
                <a:latin typeface="Times New Roman" panose="02020603050405020304" pitchFamily="18" charset="0"/>
                <a:cs typeface="Times New Roman" panose="02020603050405020304" pitchFamily="18" charset="0"/>
              </a:rPr>
              <a:t> Represents specialization-wise salary analysis.</a:t>
            </a:r>
          </a:p>
          <a:p>
            <a:pPr algn="just">
              <a:lnSpc>
                <a:spcPct val="17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Scatter Plot:</a:t>
            </a:r>
            <a:r>
              <a:rPr lang="en-US" sz="1400" dirty="0">
                <a:latin typeface="Times New Roman" panose="02020603050405020304" pitchFamily="18" charset="0"/>
                <a:cs typeface="Times New Roman" panose="02020603050405020304" pitchFamily="18" charset="0"/>
              </a:rPr>
              <a:t> Illustrates the relationship between degree percentage and salary.</a:t>
            </a:r>
          </a:p>
          <a:p>
            <a:pPr marL="0" indent="0" algn="just">
              <a:lnSpc>
                <a:spcPct val="170000"/>
              </a:lnSpc>
              <a:spcBef>
                <a:spcPct val="20000"/>
              </a:spcBef>
              <a:spcAft>
                <a:spcPts val="600"/>
              </a:spcAft>
              <a:buNone/>
            </a:pPr>
            <a:endParaRPr lang="en-GB"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Algorithm &amp; Deployment:</a:t>
            </a:r>
            <a:endParaRPr lang="en-US" sz="4000" dirty="0"/>
          </a:p>
        </p:txBody>
      </p:sp>
      <p:sp>
        <p:nvSpPr>
          <p:cNvPr id="4" name="Rectangle 1">
            <a:extLst>
              <a:ext uri="{FF2B5EF4-FFF2-40B4-BE49-F238E27FC236}">
                <a16:creationId xmlns:a16="http://schemas.microsoft.com/office/drawing/2014/main" xmlns="" id="{094CDE02-5F10-41F9-BB72-BB83480064F8}"/>
              </a:ext>
            </a:extLst>
          </p:cNvPr>
          <p:cNvSpPr>
            <a:spLocks noGrp="1" noChangeArrowheads="1"/>
          </p:cNvSpPr>
          <p:nvPr>
            <p:ph idx="1"/>
          </p:nvPr>
        </p:nvSpPr>
        <p:spPr bwMode="auto">
          <a:xfrm>
            <a:off x="293594" y="1310519"/>
            <a:ext cx="11468100" cy="554748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Load Placement Dataset into Power BI</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campus placement dataset containing student details such as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gender, degree type, specialization, work experience, salary, and placement status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imported into Power BI.</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Cleaning and Transformation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Using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 Query Editor</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dataset is cleaned by organizing columns, correcting data types, and preparing fields required for analysis.</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 Calculated Measures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metrics are calculated to evaluate placement performance.</a:t>
            </a:r>
          </a:p>
          <a:p>
            <a:pPr marL="0" marR="0" lvl="0" indent="0" defTabSz="914400" rtl="0" eaLnBrk="0" fontAlgn="base" latinLnBrk="0" hangingPunct="0">
              <a:lnSpc>
                <a:spcPct val="150000"/>
              </a:lnSpc>
              <a:spcBef>
                <a:spcPct val="0"/>
              </a:spcBef>
              <a:spcAft>
                <a:spcPct val="0"/>
              </a:spcAft>
              <a:buClrTx/>
              <a:buSz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Example 1: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Placement Rate = (Placed Students / Total Students) × 100</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50000"/>
              </a:lnSpc>
              <a:spcBef>
                <a:spcPct val="0"/>
              </a:spcBef>
              <a:spcAft>
                <a:spcPct val="0"/>
              </a:spcAft>
              <a:buClrTx/>
              <a:buSz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Example 2: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Total Students and Placed Students counts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for KPI cards.</a:t>
            </a:r>
          </a:p>
          <a:p>
            <a:pPr marL="0" marR="0" lvl="0" indent="0" defTabSz="914400" rtl="0" eaLnBrk="0" fontAlgn="base" latinLnBrk="0" hangingPunct="0">
              <a:lnSpc>
                <a:spcPct val="150000"/>
              </a:lnSpc>
              <a:spcBef>
                <a:spcPct val="0"/>
              </a:spcBef>
              <a:spcAft>
                <a:spcPct val="0"/>
              </a:spcAft>
              <a:buClrTx/>
              <a:buSzTx/>
              <a:buNone/>
              <a:tabLst/>
            </a:pPr>
            <a:r>
              <a:rPr lang="en-US" altLang="en-US" sz="1400" dirty="0">
                <a:latin typeface="Times New Roman" panose="02020603050405020304" pitchFamily="18" charset="0"/>
                <a:cs typeface="Times New Roman" panose="02020603050405020304" pitchFamily="18" charset="0"/>
              </a:rPr>
              <a:t>4.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Build Interactive Dashboard Visualizations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Multiple visual components are created to analyze placement data:</a:t>
            </a:r>
          </a:p>
          <a:p>
            <a:pPr lvl="1" eaLnBrk="0" fontAlgn="base" hangingPunct="0">
              <a:lnSpc>
                <a:spcPct val="150000"/>
              </a:lnSpc>
              <a:spcBef>
                <a:spcPct val="0"/>
              </a:spcBef>
              <a:spcAft>
                <a:spcPct val="0"/>
              </a:spcAft>
              <a:buFont typeface="Wingdings" panose="05000000000000000000" pitchFamily="2" charset="2"/>
              <a:buChar char="v"/>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KPI Cards: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Total Students, Placed Students, Placement Rate</a:t>
            </a:r>
          </a:p>
          <a:p>
            <a:pPr lvl="1" eaLnBrk="0" fontAlgn="base" hangingPunct="0">
              <a:lnSpc>
                <a:spcPct val="150000"/>
              </a:lnSpc>
              <a:spcBef>
                <a:spcPct val="0"/>
              </a:spcBef>
              <a:spcAft>
                <a:spcPct val="0"/>
              </a:spcAft>
              <a:buFont typeface="Wingdings" panose="05000000000000000000" pitchFamily="2" charset="2"/>
              <a:buChar char="v"/>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Donut Chart: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Placement status distribution (Placed vs Not Placed)</a:t>
            </a:r>
          </a:p>
          <a:p>
            <a:pPr lvl="1" eaLnBrk="0" fontAlgn="base" hangingPunct="0">
              <a:lnSpc>
                <a:spcPct val="150000"/>
              </a:lnSpc>
              <a:spcBef>
                <a:spcPct val="0"/>
              </a:spcBef>
              <a:spcAft>
                <a:spcPct val="0"/>
              </a:spcAft>
              <a:buFont typeface="Wingdings" panose="05000000000000000000" pitchFamily="2" charset="2"/>
              <a:buChar char="v"/>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Bar Chart: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Placement count by degree type</a:t>
            </a:r>
          </a:p>
          <a:p>
            <a:pPr lvl="1" eaLnBrk="0" fontAlgn="base" hangingPunct="0">
              <a:lnSpc>
                <a:spcPct val="150000"/>
              </a:lnSpc>
              <a:spcBef>
                <a:spcPct val="0"/>
              </a:spcBef>
              <a:spcAft>
                <a:spcPct val="0"/>
              </a:spcAft>
              <a:buFont typeface="Wingdings" panose="05000000000000000000" pitchFamily="2" charset="2"/>
              <a:buChar char="v"/>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Column Chart: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Specialization vs Salary analysis</a:t>
            </a:r>
          </a:p>
          <a:p>
            <a:pPr lvl="1" eaLnBrk="0" fontAlgn="base" hangingPunct="0">
              <a:lnSpc>
                <a:spcPct val="150000"/>
              </a:lnSpc>
              <a:spcBef>
                <a:spcPct val="0"/>
              </a:spcBef>
              <a:spcAft>
                <a:spcPct val="0"/>
              </a:spcAft>
              <a:buFont typeface="Wingdings" panose="05000000000000000000" pitchFamily="2" charset="2"/>
              <a:buChar char="v"/>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Scatter Plot: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Degree percentage vs Salary relationship</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lIns="91440" tIns="45720" rIns="91440" bIns="45720" anchor="t">
            <a:normAutofit/>
          </a:bodyPr>
          <a:lstStyle/>
          <a:p>
            <a:r>
              <a:rPr lang="en-US" sz="4000" b="1" cap="all" dirty="0">
                <a:solidFill>
                  <a:srgbClr val="FFFF00"/>
                </a:solidFill>
                <a:latin typeface="Arial" panose="020B0604020202020204"/>
                <a:cs typeface="Arial" panose="020B0604020202020204"/>
              </a:rPr>
              <a:t>Result:</a:t>
            </a:r>
            <a:endParaRPr lang="en-US" sz="4000" dirty="0">
              <a:solidFill>
                <a:srgbClr val="FFFF00"/>
              </a:solidFill>
            </a:endParaRPr>
          </a:p>
        </p:txBody>
      </p:sp>
      <p:pic>
        <p:nvPicPr>
          <p:cNvPr id="5" name="Picture 4">
            <a:extLst>
              <a:ext uri="{FF2B5EF4-FFF2-40B4-BE49-F238E27FC236}">
                <a16:creationId xmlns:a16="http://schemas.microsoft.com/office/drawing/2014/main" xmlns="" id="{E62C1B3A-5F62-4B9A-802C-666E9BE8D4ED}"/>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t="4706" r="18382" b="13333"/>
          <a:stretch/>
        </p:blipFill>
        <p:spPr>
          <a:xfrm>
            <a:off x="482807" y="1129553"/>
            <a:ext cx="5380110" cy="2299447"/>
          </a:xfrm>
          <a:prstGeom prst="rect">
            <a:avLst/>
          </a:prstGeom>
        </p:spPr>
      </p:pic>
      <p:sp>
        <p:nvSpPr>
          <p:cNvPr id="6" name="TextBox 5">
            <a:extLst>
              <a:ext uri="{FF2B5EF4-FFF2-40B4-BE49-F238E27FC236}">
                <a16:creationId xmlns:a16="http://schemas.microsoft.com/office/drawing/2014/main" xmlns="" id="{AA4527EE-3C3B-428B-87D2-6664F3067C55}"/>
              </a:ext>
            </a:extLst>
          </p:cNvPr>
          <p:cNvSpPr txBox="1"/>
          <p:nvPr/>
        </p:nvSpPr>
        <p:spPr>
          <a:xfrm>
            <a:off x="905435" y="3639671"/>
            <a:ext cx="4383741" cy="276999"/>
          </a:xfrm>
          <a:prstGeom prst="rect">
            <a:avLst/>
          </a:prstGeom>
          <a:noFill/>
        </p:spPr>
        <p:txBody>
          <a:bodyPr wrap="square" rtlCol="0">
            <a:spAutoFit/>
          </a:bodyPr>
          <a:lstStyle/>
          <a:p>
            <a:pPr algn="ctr"/>
            <a:r>
              <a:rPr lang="en-US" sz="1200" b="1" dirty="0">
                <a:latin typeface="Times New Roman" panose="02020603050405020304" pitchFamily="18" charset="0"/>
                <a:cs typeface="Times New Roman" panose="02020603050405020304" pitchFamily="18" charset="0"/>
              </a:rPr>
              <a:t>Fig 1: Campus Placement Analysis Dashboard in Power BI</a:t>
            </a:r>
            <a:endParaRPr lang="en-IN" sz="12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xmlns="" id="{CEBBD123-E17A-4774-8509-F21449056355}"/>
              </a:ext>
            </a:extLst>
          </p:cNvPr>
          <p:cNvPicPr>
            <a:picLocks noChangeAspect="1"/>
          </p:cNvPicPr>
          <p:nvPr/>
        </p:nvPicPr>
        <p:blipFill rotWithShape="1">
          <a:blip r:embed="rId3" cstate="print">
            <a:extLst>
              <a:ext uri="{28A0092B-C50C-407E-A947-70E740481C1C}">
                <a14:useLocalDpi xmlns:a14="http://schemas.microsoft.com/office/drawing/2010/main" xmlns="" val="0"/>
              </a:ext>
            </a:extLst>
          </a:blip>
          <a:srcRect t="4183" r="23162" b="15040"/>
          <a:stretch/>
        </p:blipFill>
        <p:spPr>
          <a:xfrm>
            <a:off x="6633883" y="1129553"/>
            <a:ext cx="4704633" cy="2364442"/>
          </a:xfrm>
          <a:prstGeom prst="rect">
            <a:avLst/>
          </a:prstGeom>
        </p:spPr>
      </p:pic>
      <p:sp>
        <p:nvSpPr>
          <p:cNvPr id="9" name="TextBox 8">
            <a:extLst>
              <a:ext uri="{FF2B5EF4-FFF2-40B4-BE49-F238E27FC236}">
                <a16:creationId xmlns:a16="http://schemas.microsoft.com/office/drawing/2014/main" xmlns="" id="{A53E4795-569A-440E-B257-D42806EB7DD5}"/>
              </a:ext>
            </a:extLst>
          </p:cNvPr>
          <p:cNvSpPr txBox="1"/>
          <p:nvPr/>
        </p:nvSpPr>
        <p:spPr>
          <a:xfrm>
            <a:off x="6633883" y="3639671"/>
            <a:ext cx="4383741" cy="276999"/>
          </a:xfrm>
          <a:prstGeom prst="rect">
            <a:avLst/>
          </a:prstGeom>
          <a:noFill/>
        </p:spPr>
        <p:txBody>
          <a:bodyPr wrap="square" rtlCol="0">
            <a:spAutoFit/>
          </a:bodyPr>
          <a:lstStyle/>
          <a:p>
            <a:pPr algn="ctr"/>
            <a:r>
              <a:rPr lang="en-US" sz="1200" b="1" dirty="0">
                <a:latin typeface="Times New Roman" panose="02020603050405020304" pitchFamily="18" charset="0"/>
                <a:cs typeface="Times New Roman" panose="02020603050405020304" pitchFamily="18" charset="0"/>
              </a:rPr>
              <a:t>Fig 2:</a:t>
            </a:r>
            <a:r>
              <a:rPr lang="en-IN" sz="1200" b="1" dirty="0">
                <a:latin typeface="Times New Roman" panose="02020603050405020304" pitchFamily="18" charset="0"/>
                <a:cs typeface="Times New Roman" panose="02020603050405020304" pitchFamily="18" charset="0"/>
              </a:rPr>
              <a:t>Gender-Filtered Campus Placement Dashboard</a:t>
            </a:r>
          </a:p>
        </p:txBody>
      </p:sp>
      <p:pic>
        <p:nvPicPr>
          <p:cNvPr id="12" name="Picture 11">
            <a:extLst>
              <a:ext uri="{FF2B5EF4-FFF2-40B4-BE49-F238E27FC236}">
                <a16:creationId xmlns:a16="http://schemas.microsoft.com/office/drawing/2014/main" xmlns="" id="{7A099A21-C852-48CC-97D3-E6E6CEC6B91B}"/>
              </a:ext>
            </a:extLst>
          </p:cNvPr>
          <p:cNvPicPr>
            <a:picLocks noChangeAspect="1"/>
          </p:cNvPicPr>
          <p:nvPr/>
        </p:nvPicPr>
        <p:blipFill rotWithShape="1">
          <a:blip r:embed="rId4" cstate="print">
            <a:extLst>
              <a:ext uri="{28A0092B-C50C-407E-A947-70E740481C1C}">
                <a14:useLocalDpi xmlns:a14="http://schemas.microsoft.com/office/drawing/2010/main" xmlns="" val="0"/>
              </a:ext>
            </a:extLst>
          </a:blip>
          <a:srcRect t="3529" r="18455" b="13072"/>
          <a:stretch/>
        </p:blipFill>
        <p:spPr>
          <a:xfrm>
            <a:off x="482807" y="3967638"/>
            <a:ext cx="5380110" cy="2173186"/>
          </a:xfrm>
          <a:prstGeom prst="rect">
            <a:avLst/>
          </a:prstGeom>
        </p:spPr>
      </p:pic>
      <p:sp>
        <p:nvSpPr>
          <p:cNvPr id="13" name="TextBox 12">
            <a:extLst>
              <a:ext uri="{FF2B5EF4-FFF2-40B4-BE49-F238E27FC236}">
                <a16:creationId xmlns:a16="http://schemas.microsoft.com/office/drawing/2014/main" xmlns="" id="{C00E4DEF-6F7C-477C-B799-9ABF62DDF473}"/>
              </a:ext>
            </a:extLst>
          </p:cNvPr>
          <p:cNvSpPr txBox="1"/>
          <p:nvPr/>
        </p:nvSpPr>
        <p:spPr>
          <a:xfrm>
            <a:off x="129987" y="6191792"/>
            <a:ext cx="5934635" cy="276999"/>
          </a:xfrm>
          <a:prstGeom prst="rect">
            <a:avLst/>
          </a:prstGeom>
          <a:noFill/>
        </p:spPr>
        <p:txBody>
          <a:bodyPr wrap="square" rtlCol="0">
            <a:spAutoFit/>
          </a:bodyPr>
          <a:lstStyle/>
          <a:p>
            <a:pPr algn="ctr"/>
            <a:r>
              <a:rPr lang="en-US" sz="1200" b="1" dirty="0">
                <a:latin typeface="Times New Roman" panose="02020603050405020304" pitchFamily="18" charset="0"/>
                <a:cs typeface="Times New Roman" panose="02020603050405020304" pitchFamily="18" charset="0"/>
              </a:rPr>
              <a:t>Fig 3: Placement Dashboard for Female Students with Work  Experience</a:t>
            </a:r>
            <a:endParaRPr lang="en-IN" sz="1200" b="1"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xmlns="" id="{F8EC5192-C12E-4297-8C1D-B55E51DF2521}"/>
              </a:ext>
            </a:extLst>
          </p:cNvPr>
          <p:cNvPicPr>
            <a:picLocks noChangeAspect="1"/>
          </p:cNvPicPr>
          <p:nvPr/>
        </p:nvPicPr>
        <p:blipFill rotWithShape="1">
          <a:blip r:embed="rId5" cstate="print">
            <a:extLst>
              <a:ext uri="{28A0092B-C50C-407E-A947-70E740481C1C}">
                <a14:useLocalDpi xmlns:a14="http://schemas.microsoft.com/office/drawing/2010/main" xmlns="" val="0"/>
              </a:ext>
            </a:extLst>
          </a:blip>
          <a:srcRect t="3922" r="22573" b="12679"/>
          <a:stretch/>
        </p:blipFill>
        <p:spPr>
          <a:xfrm>
            <a:off x="6683188" y="3891735"/>
            <a:ext cx="4704633" cy="2249089"/>
          </a:xfrm>
          <a:prstGeom prst="rect">
            <a:avLst/>
          </a:prstGeom>
        </p:spPr>
      </p:pic>
      <p:sp>
        <p:nvSpPr>
          <p:cNvPr id="16" name="TextBox 15">
            <a:extLst>
              <a:ext uri="{FF2B5EF4-FFF2-40B4-BE49-F238E27FC236}">
                <a16:creationId xmlns:a16="http://schemas.microsoft.com/office/drawing/2014/main" xmlns="" id="{A04C5117-CF2D-4991-8938-8E12848B0605}"/>
              </a:ext>
            </a:extLst>
          </p:cNvPr>
          <p:cNvSpPr txBox="1"/>
          <p:nvPr/>
        </p:nvSpPr>
        <p:spPr>
          <a:xfrm>
            <a:off x="7004079" y="6254750"/>
            <a:ext cx="4704633" cy="276999"/>
          </a:xfrm>
          <a:prstGeom prst="rect">
            <a:avLst/>
          </a:prstGeom>
          <a:noFill/>
        </p:spPr>
        <p:txBody>
          <a:bodyPr wrap="square" rtlCol="0">
            <a:spAutoFit/>
          </a:bodyPr>
          <a:lstStyle/>
          <a:p>
            <a:pPr algn="ctr"/>
            <a:r>
              <a:rPr lang="en-US" sz="1200" b="1" dirty="0">
                <a:latin typeface="Times New Roman" panose="02020603050405020304" pitchFamily="18" charset="0"/>
                <a:cs typeface="Times New Roman" panose="02020603050405020304" pitchFamily="18" charset="0"/>
              </a:rPr>
              <a:t>Fig 4:Placement Dashboard for Male Students with Work Experience</a:t>
            </a:r>
            <a:endParaRPr lang="en-IN" sz="12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xmlns="" id="{57854D4C-C712-4403-814F-1A2475B8EC3B}"/>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t="4444" r="22500" b="12419"/>
          <a:stretch/>
        </p:blipFill>
        <p:spPr>
          <a:xfrm>
            <a:off x="224118" y="672353"/>
            <a:ext cx="5495364" cy="2677675"/>
          </a:xfrm>
          <a:prstGeom prst="rect">
            <a:avLst/>
          </a:prstGeom>
        </p:spPr>
      </p:pic>
      <p:sp>
        <p:nvSpPr>
          <p:cNvPr id="11" name="TextBox 10">
            <a:extLst>
              <a:ext uri="{FF2B5EF4-FFF2-40B4-BE49-F238E27FC236}">
                <a16:creationId xmlns:a16="http://schemas.microsoft.com/office/drawing/2014/main" xmlns="" id="{2D5BCF0D-781E-46ED-9998-94013B446CF0}"/>
              </a:ext>
            </a:extLst>
          </p:cNvPr>
          <p:cNvSpPr txBox="1"/>
          <p:nvPr/>
        </p:nvSpPr>
        <p:spPr>
          <a:xfrm>
            <a:off x="479609" y="3336581"/>
            <a:ext cx="4442013" cy="461665"/>
          </a:xfrm>
          <a:prstGeom prst="rect">
            <a:avLst/>
          </a:prstGeom>
          <a:noFill/>
        </p:spPr>
        <p:txBody>
          <a:bodyPr wrap="square" rtlCol="0">
            <a:spAutoFit/>
          </a:bodyPr>
          <a:lstStyle/>
          <a:p>
            <a:pPr algn="ctr"/>
            <a:r>
              <a:rPr lang="en-US" sz="1200" b="1" dirty="0">
                <a:latin typeface="Times New Roman" panose="02020603050405020304" pitchFamily="18" charset="0"/>
                <a:cs typeface="Times New Roman" panose="02020603050405020304" pitchFamily="18" charset="0"/>
              </a:rPr>
              <a:t>Fig 5: Placement Analysis for Male Students in </a:t>
            </a:r>
            <a:r>
              <a:rPr lang="en-US" sz="1200" b="1" dirty="0" err="1">
                <a:latin typeface="Times New Roman" panose="02020603050405020304" pitchFamily="18" charset="0"/>
                <a:cs typeface="Times New Roman" panose="02020603050405020304" pitchFamily="18" charset="0"/>
              </a:rPr>
              <a:t>Mkt&amp;HR</a:t>
            </a:r>
            <a:r>
              <a:rPr lang="en-US" sz="1200" b="1" dirty="0">
                <a:latin typeface="Times New Roman" panose="02020603050405020304" pitchFamily="18" charset="0"/>
                <a:cs typeface="Times New Roman" panose="02020603050405020304" pitchFamily="18" charset="0"/>
              </a:rPr>
              <a:t> Specialization with Work Experience</a:t>
            </a:r>
            <a:endParaRPr lang="en-IN" sz="1200" b="1"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xmlns="" id="{143FC73C-3354-472C-9E06-6FDEA85DA3C9}"/>
              </a:ext>
            </a:extLst>
          </p:cNvPr>
          <p:cNvPicPr>
            <a:picLocks noChangeAspect="1"/>
          </p:cNvPicPr>
          <p:nvPr/>
        </p:nvPicPr>
        <p:blipFill rotWithShape="1">
          <a:blip r:embed="rId3" cstate="print">
            <a:extLst>
              <a:ext uri="{28A0092B-C50C-407E-A947-70E740481C1C}">
                <a14:useLocalDpi xmlns:a14="http://schemas.microsoft.com/office/drawing/2010/main" xmlns="" val="0"/>
              </a:ext>
            </a:extLst>
          </a:blip>
          <a:srcRect t="4184" r="23382" b="13072"/>
          <a:stretch/>
        </p:blipFill>
        <p:spPr>
          <a:xfrm>
            <a:off x="6405284" y="788579"/>
            <a:ext cx="4957482" cy="2548002"/>
          </a:xfrm>
          <a:prstGeom prst="rect">
            <a:avLst/>
          </a:prstGeom>
        </p:spPr>
      </p:pic>
      <p:sp>
        <p:nvSpPr>
          <p:cNvPr id="18" name="TextBox 17">
            <a:extLst>
              <a:ext uri="{FF2B5EF4-FFF2-40B4-BE49-F238E27FC236}">
                <a16:creationId xmlns:a16="http://schemas.microsoft.com/office/drawing/2014/main" xmlns="" id="{3BA64FD2-FB0E-48DE-9075-BD3EA049ABDB}"/>
              </a:ext>
            </a:extLst>
          </p:cNvPr>
          <p:cNvSpPr txBox="1"/>
          <p:nvPr/>
        </p:nvSpPr>
        <p:spPr>
          <a:xfrm>
            <a:off x="6405284" y="3296240"/>
            <a:ext cx="4823010" cy="461665"/>
          </a:xfrm>
          <a:prstGeom prst="rect">
            <a:avLst/>
          </a:prstGeom>
          <a:noFill/>
        </p:spPr>
        <p:txBody>
          <a:bodyPr wrap="square" rtlCol="0">
            <a:spAutoFit/>
          </a:bodyPr>
          <a:lstStyle/>
          <a:p>
            <a:pPr algn="ctr"/>
            <a:r>
              <a:rPr lang="en-US" sz="1200" b="1" dirty="0">
                <a:latin typeface="Times New Roman" panose="02020603050405020304" pitchFamily="18" charset="0"/>
                <a:cs typeface="Times New Roman" panose="02020603050405020304" pitchFamily="18" charset="0"/>
              </a:rPr>
              <a:t>Fig 6: Placement Analysis for Female Students in </a:t>
            </a:r>
            <a:r>
              <a:rPr lang="en-US" sz="1200" b="1" dirty="0" err="1">
                <a:latin typeface="Times New Roman" panose="02020603050405020304" pitchFamily="18" charset="0"/>
                <a:cs typeface="Times New Roman" panose="02020603050405020304" pitchFamily="18" charset="0"/>
              </a:rPr>
              <a:t>Mkt&amp;HR</a:t>
            </a:r>
            <a:r>
              <a:rPr lang="en-US" sz="1200" b="1" dirty="0">
                <a:latin typeface="Times New Roman" panose="02020603050405020304" pitchFamily="18" charset="0"/>
                <a:cs typeface="Times New Roman" panose="02020603050405020304" pitchFamily="18" charset="0"/>
              </a:rPr>
              <a:t> Specialization with Work Experience</a:t>
            </a:r>
            <a:endParaRPr lang="en-IN" sz="1200" b="1" dirty="0">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xmlns="" id="{4585DF6F-D7D3-47BF-B68E-0C928BECD135}"/>
              </a:ext>
            </a:extLst>
          </p:cNvPr>
          <p:cNvPicPr>
            <a:picLocks noChangeAspect="1"/>
          </p:cNvPicPr>
          <p:nvPr/>
        </p:nvPicPr>
        <p:blipFill rotWithShape="1">
          <a:blip r:embed="rId4" cstate="print">
            <a:extLst>
              <a:ext uri="{28A0092B-C50C-407E-A947-70E740481C1C}">
                <a14:useLocalDpi xmlns:a14="http://schemas.microsoft.com/office/drawing/2010/main" xmlns="" val="0"/>
              </a:ext>
            </a:extLst>
          </a:blip>
          <a:srcRect t="4313" r="23309" b="12520"/>
          <a:stretch/>
        </p:blipFill>
        <p:spPr>
          <a:xfrm>
            <a:off x="224118" y="3798246"/>
            <a:ext cx="5701554" cy="2294982"/>
          </a:xfrm>
          <a:prstGeom prst="rect">
            <a:avLst/>
          </a:prstGeom>
        </p:spPr>
      </p:pic>
      <p:sp>
        <p:nvSpPr>
          <p:cNvPr id="22" name="TextBox 21">
            <a:extLst>
              <a:ext uri="{FF2B5EF4-FFF2-40B4-BE49-F238E27FC236}">
                <a16:creationId xmlns:a16="http://schemas.microsoft.com/office/drawing/2014/main" xmlns="" id="{FC182D5B-24C6-43CF-987D-A55B4A41EA6C}"/>
              </a:ext>
            </a:extLst>
          </p:cNvPr>
          <p:cNvSpPr txBox="1"/>
          <p:nvPr/>
        </p:nvSpPr>
        <p:spPr>
          <a:xfrm>
            <a:off x="479609" y="6107213"/>
            <a:ext cx="5029200" cy="461665"/>
          </a:xfrm>
          <a:prstGeom prst="rect">
            <a:avLst/>
          </a:prstGeom>
          <a:noFill/>
        </p:spPr>
        <p:txBody>
          <a:bodyPr wrap="square" rtlCol="0">
            <a:spAutoFit/>
          </a:bodyPr>
          <a:lstStyle/>
          <a:p>
            <a:pPr algn="ctr"/>
            <a:r>
              <a:rPr lang="en-US" sz="1200" b="1" dirty="0">
                <a:latin typeface="Times New Roman" panose="02020603050405020304" pitchFamily="18" charset="0"/>
                <a:cs typeface="Times New Roman" panose="02020603050405020304" pitchFamily="18" charset="0"/>
              </a:rPr>
              <a:t>Fig 7: Placement Analysis for Female Students from “Others” Degree with Work Experience</a:t>
            </a:r>
            <a:endParaRPr lang="en-IN" sz="1200" b="1" dirty="0">
              <a:latin typeface="Times New Roman" panose="02020603050405020304" pitchFamily="18" charset="0"/>
              <a:cs typeface="Times New Roman" panose="02020603050405020304" pitchFamily="18" charset="0"/>
            </a:endParaRPr>
          </a:p>
        </p:txBody>
      </p:sp>
      <p:pic>
        <p:nvPicPr>
          <p:cNvPr id="24" name="Picture 23">
            <a:extLst>
              <a:ext uri="{FF2B5EF4-FFF2-40B4-BE49-F238E27FC236}">
                <a16:creationId xmlns:a16="http://schemas.microsoft.com/office/drawing/2014/main" xmlns="" id="{5BE44940-61A0-41AF-94CA-7AE04E12F809}"/>
              </a:ext>
            </a:extLst>
          </p:cNvPr>
          <p:cNvPicPr>
            <a:picLocks noChangeAspect="1"/>
          </p:cNvPicPr>
          <p:nvPr/>
        </p:nvPicPr>
        <p:blipFill rotWithShape="1">
          <a:blip r:embed="rId5" cstate="print">
            <a:extLst>
              <a:ext uri="{28A0092B-C50C-407E-A947-70E740481C1C}">
                <a14:useLocalDpi xmlns:a14="http://schemas.microsoft.com/office/drawing/2010/main" xmlns="" val="0"/>
              </a:ext>
            </a:extLst>
          </a:blip>
          <a:srcRect t="4216" r="23309" b="12810"/>
          <a:stretch/>
        </p:blipFill>
        <p:spPr>
          <a:xfrm>
            <a:off x="6405284" y="3798246"/>
            <a:ext cx="5078508" cy="2271175"/>
          </a:xfrm>
          <a:prstGeom prst="rect">
            <a:avLst/>
          </a:prstGeom>
        </p:spPr>
      </p:pic>
      <p:sp>
        <p:nvSpPr>
          <p:cNvPr id="25" name="TextBox 24">
            <a:extLst>
              <a:ext uri="{FF2B5EF4-FFF2-40B4-BE49-F238E27FC236}">
                <a16:creationId xmlns:a16="http://schemas.microsoft.com/office/drawing/2014/main" xmlns="" id="{F138C376-619A-49CA-A23E-9B0D5B12A1EA}"/>
              </a:ext>
            </a:extLst>
          </p:cNvPr>
          <p:cNvSpPr txBox="1"/>
          <p:nvPr/>
        </p:nvSpPr>
        <p:spPr>
          <a:xfrm>
            <a:off x="6405284" y="6107213"/>
            <a:ext cx="5078509" cy="461665"/>
          </a:xfrm>
          <a:prstGeom prst="rect">
            <a:avLst/>
          </a:prstGeom>
          <a:noFill/>
        </p:spPr>
        <p:txBody>
          <a:bodyPr wrap="square" rtlCol="0">
            <a:spAutoFit/>
          </a:bodyPr>
          <a:lstStyle/>
          <a:p>
            <a:pPr algn="ctr"/>
            <a:r>
              <a:rPr lang="en-US" sz="1200" b="1" dirty="0">
                <a:latin typeface="Times New Roman" panose="02020603050405020304" pitchFamily="18" charset="0"/>
                <a:cs typeface="Times New Roman" panose="02020603050405020304" pitchFamily="18" charset="0"/>
              </a:rPr>
              <a:t>Fig 8: Placement Analysis for Male Students from “Others” Degree with Work Experience</a:t>
            </a:r>
            <a:endParaRPr lang="en-IN" sz="1200" b="1" dirty="0">
              <a:latin typeface="Times New Roman" panose="02020603050405020304" pitchFamily="18" charset="0"/>
              <a:cs typeface="Times New Roman" panose="02020603050405020304" pitchFamily="18" charset="0"/>
            </a:endParaRPr>
          </a:p>
        </p:txBody>
      </p:sp>
      <p:sp>
        <p:nvSpPr>
          <p:cNvPr id="12" name="Rectangle 11"/>
          <p:cNvSpPr/>
          <p:nvPr/>
        </p:nvSpPr>
        <p:spPr>
          <a:xfrm>
            <a:off x="180148" y="0"/>
            <a:ext cx="2421383" cy="707886"/>
          </a:xfrm>
          <a:prstGeom prst="rect">
            <a:avLst/>
          </a:prstGeom>
        </p:spPr>
        <p:txBody>
          <a:bodyPr wrap="square">
            <a:spAutoFit/>
          </a:bodyPr>
          <a:lstStyle/>
          <a:p>
            <a:r>
              <a:rPr lang="en-US" sz="4000" b="1" cap="all" dirty="0" smtClean="0">
                <a:solidFill>
                  <a:srgbClr val="FFFF00"/>
                </a:solidFill>
                <a:latin typeface="Arial" panose="020B0604020202020204"/>
                <a:cs typeface="Arial" panose="020B0604020202020204"/>
              </a:rPr>
              <a:t>Result:</a:t>
            </a:r>
            <a:endParaRPr lang="en-IN" sz="4000" dirty="0">
              <a:solidFill>
                <a:srgbClr val="FFFF00"/>
              </a:solidFill>
            </a:endParaRPr>
          </a:p>
        </p:txBody>
      </p:sp>
    </p:spTree>
    <p:extLst>
      <p:ext uri="{BB962C8B-B14F-4D97-AF65-F5344CB8AC3E}">
        <p14:creationId xmlns:p14="http://schemas.microsoft.com/office/powerpoint/2010/main" xmlns="" val="248866919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Conclusion:</a:t>
            </a:r>
            <a:endParaRPr lang="en-US" sz="4000" dirty="0"/>
          </a:p>
        </p:txBody>
      </p:sp>
      <p:sp>
        <p:nvSpPr>
          <p:cNvPr id="3" name="Content Placeholder 2"/>
          <p:cNvSpPr>
            <a:spLocks noGrp="1"/>
          </p:cNvSpPr>
          <p:nvPr>
            <p:ph idx="1"/>
          </p:nvPr>
        </p:nvSpPr>
        <p:spPr>
          <a:xfrm>
            <a:off x="699247" y="1622391"/>
            <a:ext cx="10078942" cy="4251960"/>
          </a:xfrm>
        </p:spPr>
        <p:txBody>
          <a:bodyPr vert="horz" lIns="91440" tIns="45720" rIns="91440" bIns="45720" rtlCol="0">
            <a:normAutofit fontScale="77500" lnSpcReduction="20000"/>
          </a:bodyPr>
          <a:lstStyle/>
          <a:p>
            <a:pPr marL="0" indent="0" algn="just">
              <a:lnSpc>
                <a:spcPct val="170000"/>
              </a:lnSpc>
              <a:buNone/>
            </a:pPr>
            <a:r>
              <a:rPr lang="en-US" sz="2200" dirty="0">
                <a:latin typeface="Times New Roman" panose="02020603050405020304" pitchFamily="18" charset="0"/>
                <a:cs typeface="Times New Roman" panose="02020603050405020304" pitchFamily="18" charset="0"/>
              </a:rPr>
              <a:t>The Campus Placement Analysis Dashboard provides a clear and interactive way to analyze student placement data using Power BI. The dashboard visually represents key metrics such as total students, placed students, placement rate, degree type, specialization, and salary distribution, making it easier to understand placement trends.</a:t>
            </a:r>
          </a:p>
          <a:p>
            <a:pPr marL="0" indent="0" algn="just">
              <a:lnSpc>
                <a:spcPct val="170000"/>
              </a:lnSpc>
              <a:buNone/>
            </a:pPr>
            <a:r>
              <a:rPr lang="en-US" sz="2200" dirty="0">
                <a:latin typeface="Times New Roman" panose="02020603050405020304" pitchFamily="18" charset="0"/>
                <a:cs typeface="Times New Roman" panose="02020603050405020304" pitchFamily="18" charset="0"/>
              </a:rPr>
              <a:t>By using different visualizations like KPI cards, charts, and filters, users can quickly identify patterns in placement performance and compare placement outcomes across different student categories. This helps institutions evaluate placement effectiveness and understand factors influencing student placements.</a:t>
            </a:r>
          </a:p>
          <a:p>
            <a:pPr marL="0" indent="0" algn="just">
              <a:lnSpc>
                <a:spcPct val="170000"/>
              </a:lnSpc>
              <a:buNone/>
            </a:pPr>
            <a:r>
              <a:rPr lang="en-US" sz="2200" dirty="0">
                <a:latin typeface="Times New Roman" panose="02020603050405020304" pitchFamily="18" charset="0"/>
                <a:cs typeface="Times New Roman" panose="02020603050405020304" pitchFamily="18" charset="0"/>
              </a:rPr>
              <a:t>Overall, the dashboard simplifies complex placement data into meaningful insights, enabling better decision-making for improving campus placement strategies and student career opportunities.</a:t>
            </a:r>
          </a:p>
          <a:p>
            <a:pPr marL="0" indent="0" algn="just">
              <a:lnSpc>
                <a:spcPct val="170000"/>
              </a:lnSpc>
              <a:buNone/>
            </a:pPr>
            <a:endParaRPr lang="en-US" sz="2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dirty="0">
                <a:latin typeface="Arial" panose="020B0604020202020204"/>
                <a:cs typeface="Arial" panose="020B0604020202020204"/>
              </a:rPr>
              <a:t>Future scope:</a:t>
            </a:r>
            <a:endParaRPr lang="en-US" sz="4000" dirty="0"/>
          </a:p>
        </p:txBody>
      </p:sp>
      <p:sp>
        <p:nvSpPr>
          <p:cNvPr id="3" name="Content Placeholder 2"/>
          <p:cNvSpPr>
            <a:spLocks noGrp="1"/>
          </p:cNvSpPr>
          <p:nvPr>
            <p:ph idx="1"/>
          </p:nvPr>
        </p:nvSpPr>
        <p:spPr>
          <a:xfrm>
            <a:off x="735105" y="1304434"/>
            <a:ext cx="10048565" cy="4251960"/>
          </a:xfrm>
        </p:spPr>
        <p:txBody>
          <a:bodyPr vert="horz" lIns="91440" tIns="45720" rIns="91440" bIns="45720" rtlCol="0">
            <a:noAutofit/>
          </a:bodyPr>
          <a:lstStyle/>
          <a:p>
            <a:pPr marL="0" indent="0" algn="just">
              <a:lnSpc>
                <a:spcPct val="150000"/>
              </a:lnSpc>
              <a:buNone/>
            </a:pPr>
            <a:endParaRPr lang="en-US" sz="1400" b="1" dirty="0">
              <a:latin typeface="Times New Roman" panose="02020603050405020304" pitchFamily="18" charset="0"/>
              <a:cs typeface="Times New Roman" panose="02020603050405020304" pitchFamily="18" charset="0"/>
            </a:endParaRPr>
          </a:p>
          <a:p>
            <a:pPr algn="just">
              <a:lnSpc>
                <a:spcPct val="150000"/>
              </a:lnSpc>
            </a:pPr>
            <a:r>
              <a:rPr lang="en-US" sz="1400" dirty="0">
                <a:latin typeface="Times New Roman" panose="02020603050405020304" pitchFamily="18" charset="0"/>
                <a:cs typeface="Times New Roman" panose="02020603050405020304" pitchFamily="18" charset="0"/>
              </a:rPr>
              <a:t>The Campus Placement Analysis Dashboard can be further enhanced by integrating advanced analytical and technological features to improve placement insights and decision-making.</a:t>
            </a:r>
          </a:p>
          <a:p>
            <a:pPr algn="just">
              <a:lnSpc>
                <a:spcPct val="150000"/>
              </a:lnSpc>
            </a:pPr>
            <a:r>
              <a:rPr lang="en-US" sz="1400" dirty="0">
                <a:latin typeface="Times New Roman" panose="02020603050405020304" pitchFamily="18" charset="0"/>
                <a:cs typeface="Times New Roman" panose="02020603050405020304" pitchFamily="18" charset="0"/>
              </a:rPr>
              <a:t>One important improvement is the </a:t>
            </a:r>
            <a:r>
              <a:rPr lang="en-US" sz="1400" b="1" dirty="0">
                <a:latin typeface="Times New Roman" panose="02020603050405020304" pitchFamily="18" charset="0"/>
                <a:cs typeface="Times New Roman" panose="02020603050405020304" pitchFamily="18" charset="0"/>
              </a:rPr>
              <a:t>integration of real-time data sources</a:t>
            </a:r>
            <a:r>
              <a:rPr lang="en-US" sz="1400" dirty="0">
                <a:latin typeface="Times New Roman" panose="02020603050405020304" pitchFamily="18" charset="0"/>
                <a:cs typeface="Times New Roman" panose="02020603050405020304" pitchFamily="18" charset="0"/>
              </a:rPr>
              <a:t>. Currently, the dashboard analyzes static placement datasets, but in the future it can be connected to live databases or institutional management systems so that placement information is automatically updated.</a:t>
            </a:r>
          </a:p>
          <a:p>
            <a:pPr algn="just">
              <a:lnSpc>
                <a:spcPct val="150000"/>
              </a:lnSpc>
            </a:pPr>
            <a:r>
              <a:rPr lang="en-US" sz="1400" dirty="0">
                <a:latin typeface="Times New Roman" panose="02020603050405020304" pitchFamily="18" charset="0"/>
                <a:cs typeface="Times New Roman" panose="02020603050405020304" pitchFamily="18" charset="0"/>
              </a:rPr>
              <a:t>Another future enhancement is the use of </a:t>
            </a:r>
            <a:r>
              <a:rPr lang="en-US" sz="1400" b="1" dirty="0">
                <a:latin typeface="Times New Roman" panose="02020603050405020304" pitchFamily="18" charset="0"/>
                <a:cs typeface="Times New Roman" panose="02020603050405020304" pitchFamily="18" charset="0"/>
              </a:rPr>
              <a:t>predictive analytics and machine learning models</a:t>
            </a:r>
            <a:r>
              <a:rPr lang="en-US" sz="1400" dirty="0">
                <a:latin typeface="Times New Roman" panose="02020603050405020304" pitchFamily="18" charset="0"/>
                <a:cs typeface="Times New Roman" panose="02020603050405020304" pitchFamily="18" charset="0"/>
              </a:rPr>
              <a:t> to forecast student placement probability. By analyzing factors such as academic performance, specialization, work experience, and skill sets, the system could predict which students are more likely to get placed and help institutions take proactive steps to improve outcomes.</a:t>
            </a:r>
          </a:p>
          <a:p>
            <a:pPr algn="just">
              <a:lnSpc>
                <a:spcPct val="150000"/>
              </a:lnSpc>
            </a:pPr>
            <a:r>
              <a:rPr lang="en-US" sz="1400" dirty="0">
                <a:latin typeface="Times New Roman" panose="02020603050405020304" pitchFamily="18" charset="0"/>
                <a:cs typeface="Times New Roman" panose="02020603050405020304" pitchFamily="18" charset="0"/>
              </a:rPr>
              <a:t>The dashboard can also be extended to include </a:t>
            </a:r>
            <a:r>
              <a:rPr lang="en-US" sz="1400" b="1" dirty="0">
                <a:latin typeface="Times New Roman" panose="02020603050405020304" pitchFamily="18" charset="0"/>
                <a:cs typeface="Times New Roman" panose="02020603050405020304" pitchFamily="18" charset="0"/>
              </a:rPr>
              <a:t>company-wise and department-wise placement analysis</a:t>
            </a:r>
            <a:r>
              <a:rPr lang="en-US" sz="1400" dirty="0">
                <a:latin typeface="Times New Roman" panose="02020603050405020304" pitchFamily="18" charset="0"/>
                <a:cs typeface="Times New Roman" panose="02020603050405020304" pitchFamily="18" charset="0"/>
              </a:rPr>
              <a:t>, allowing institutions to evaluate which companies recruit the most students and which departments achieve higher placement rates.</a:t>
            </a:r>
          </a:p>
          <a:p>
            <a:pPr algn="just">
              <a:lnSpc>
                <a:spcPct val="150000"/>
              </a:lnSpc>
            </a:pPr>
            <a:r>
              <a:rPr lang="en-US" sz="1400" dirty="0">
                <a:latin typeface="Times New Roman" panose="02020603050405020304" pitchFamily="18" charset="0"/>
                <a:cs typeface="Times New Roman" panose="02020603050405020304" pitchFamily="18" charset="0"/>
              </a:rPr>
              <a:t>Additionally, the system can be developed into a </a:t>
            </a:r>
            <a:r>
              <a:rPr lang="en-US" sz="1400" b="1" dirty="0">
                <a:latin typeface="Times New Roman" panose="02020603050405020304" pitchFamily="18" charset="0"/>
                <a:cs typeface="Times New Roman" panose="02020603050405020304" pitchFamily="18" charset="0"/>
              </a:rPr>
              <a:t>web-based or cloud-based application</a:t>
            </a:r>
            <a:r>
              <a:rPr lang="en-US" sz="1400" dirty="0">
                <a:latin typeface="Times New Roman" panose="02020603050405020304" pitchFamily="18" charset="0"/>
                <a:cs typeface="Times New Roman" panose="02020603050405020304" pitchFamily="18" charset="0"/>
              </a:rPr>
              <a:t> where placement officers, faculty members, and students can access placement analytics from anywhere. This would improve accessibility and collaboration.</a:t>
            </a:r>
          </a:p>
          <a:p>
            <a:pPr algn="just">
              <a:lnSpc>
                <a:spcPct val="150000"/>
              </a:lnSpc>
            </a:pPr>
            <a:endParaRPr lang="en-US"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References:</a:t>
            </a:r>
            <a:endParaRPr lang="en-US" sz="4000"/>
          </a:p>
        </p:txBody>
      </p:sp>
      <p:sp>
        <p:nvSpPr>
          <p:cNvPr id="3" name="Content Placeholder 2"/>
          <p:cNvSpPr>
            <a:spLocks noGrp="1"/>
          </p:cNvSpPr>
          <p:nvPr>
            <p:ph idx="1"/>
          </p:nvPr>
        </p:nvSpPr>
        <p:spPr>
          <a:xfrm>
            <a:off x="196804" y="1551125"/>
            <a:ext cx="10515600" cy="4251960"/>
          </a:xfrm>
        </p:spPr>
        <p:txBody>
          <a:bodyPr vert="horz" lIns="91440" tIns="45720" rIns="91440" bIns="45720" rtlCol="0" anchor="t">
            <a:normAutofit/>
          </a:bodyPr>
          <a:lstStyle/>
          <a:p>
            <a:pPr marL="0" indent="0">
              <a:lnSpc>
                <a:spcPct val="100000"/>
              </a:lnSpc>
              <a:buNone/>
            </a:pPr>
            <a:endParaRPr lang="en-IN" sz="1400" dirty="0" smtClean="0">
              <a:latin typeface="Times New Roman" pitchFamily="18" charset="0"/>
              <a:cs typeface="Times New Roman" pitchFamily="18" charset="0"/>
            </a:endParaRPr>
          </a:p>
          <a:p>
            <a:pPr>
              <a:lnSpc>
                <a:spcPct val="100000"/>
              </a:lnSpc>
            </a:pPr>
            <a:r>
              <a:rPr lang="en-IN" sz="1400" dirty="0" smtClean="0">
                <a:latin typeface="Times New Roman" pitchFamily="18" charset="0"/>
                <a:cs typeface="Times New Roman" pitchFamily="18" charset="0"/>
                <a:hlinkClick r:id="rId2"/>
              </a:rPr>
              <a:t>Factors Affecting Campus Placement Dataset (</a:t>
            </a:r>
            <a:r>
              <a:rPr lang="en-IN" sz="1400" dirty="0" err="1" smtClean="0">
                <a:latin typeface="Times New Roman" pitchFamily="18" charset="0"/>
                <a:cs typeface="Times New Roman" pitchFamily="18" charset="0"/>
                <a:hlinkClick r:id="rId2"/>
              </a:rPr>
              <a:t>Kaggle</a:t>
            </a:r>
            <a:r>
              <a:rPr lang="en-IN" sz="1400" dirty="0" smtClean="0">
                <a:latin typeface="Times New Roman" pitchFamily="18" charset="0"/>
                <a:cs typeface="Times New Roman" pitchFamily="18" charset="0"/>
                <a:hlinkClick r:id="rId2"/>
              </a:rPr>
              <a:t>)</a:t>
            </a:r>
            <a:r>
              <a:rPr lang="en-IN" sz="1400" dirty="0" smtClean="0">
                <a:latin typeface="Times New Roman" pitchFamily="18" charset="0"/>
                <a:cs typeface="Times New Roman" pitchFamily="18" charset="0"/>
              </a:rPr>
              <a:t> </a:t>
            </a:r>
            <a:r>
              <a:rPr lang="en-IN" sz="1400" dirty="0" err="1" smtClean="0">
                <a:latin typeface="Times New Roman" pitchFamily="18" charset="0"/>
                <a:cs typeface="Times New Roman" pitchFamily="18" charset="0"/>
              </a:rPr>
              <a:t>Benroshan</a:t>
            </a:r>
            <a:r>
              <a:rPr lang="en-IN" sz="1400" dirty="0" smtClean="0">
                <a:latin typeface="Times New Roman" pitchFamily="18" charset="0"/>
                <a:cs typeface="Times New Roman" pitchFamily="18" charset="0"/>
              </a:rPr>
              <a:t>. </a:t>
            </a:r>
            <a:r>
              <a:rPr lang="en-IN" sz="1400" i="1" dirty="0" smtClean="0">
                <a:latin typeface="Times New Roman" pitchFamily="18" charset="0"/>
                <a:cs typeface="Times New Roman" pitchFamily="18" charset="0"/>
              </a:rPr>
              <a:t>Academic and Employability Factors Influencing Placement Dataset.</a:t>
            </a:r>
            <a:r>
              <a:rPr lang="en-IN" sz="1400" dirty="0" smtClean="0">
                <a:latin typeface="Times New Roman" pitchFamily="18" charset="0"/>
                <a:cs typeface="Times New Roman" pitchFamily="18" charset="0"/>
              </a:rPr>
              <a:t> </a:t>
            </a:r>
            <a:r>
              <a:rPr lang="en-IN" sz="1400" dirty="0" err="1" smtClean="0">
                <a:latin typeface="Times New Roman" pitchFamily="18" charset="0"/>
                <a:cs typeface="Times New Roman" pitchFamily="18" charset="0"/>
              </a:rPr>
              <a:t>Kaggle</a:t>
            </a:r>
            <a:r>
              <a:rPr lang="en-IN" sz="1400" dirty="0" smtClean="0">
                <a:latin typeface="Times New Roman" pitchFamily="18" charset="0"/>
                <a:cs typeface="Times New Roman" pitchFamily="18" charset="0"/>
              </a:rPr>
              <a:t>. </a:t>
            </a:r>
          </a:p>
          <a:p>
            <a:pPr>
              <a:lnSpc>
                <a:spcPct val="100000"/>
              </a:lnSpc>
            </a:pPr>
            <a:r>
              <a:rPr lang="en-IN" sz="1400" dirty="0" smtClean="0">
                <a:latin typeface="Times New Roman" pitchFamily="18" charset="0"/>
                <a:cs typeface="Times New Roman" pitchFamily="18" charset="0"/>
              </a:rPr>
              <a:t>Campus Recruitment Dataset Analysis. </a:t>
            </a:r>
            <a:r>
              <a:rPr lang="en-IN" sz="1400" dirty="0" err="1" smtClean="0">
                <a:latin typeface="Times New Roman" pitchFamily="18" charset="0"/>
                <a:cs typeface="Times New Roman" pitchFamily="18" charset="0"/>
              </a:rPr>
              <a:t>Kaggle</a:t>
            </a:r>
            <a:r>
              <a:rPr lang="en-IN" sz="1400" dirty="0" smtClean="0">
                <a:latin typeface="Times New Roman" pitchFamily="18" charset="0"/>
                <a:cs typeface="Times New Roman" pitchFamily="18" charset="0"/>
              </a:rPr>
              <a:t> Notebook. </a:t>
            </a:r>
          </a:p>
          <a:p>
            <a:pPr>
              <a:lnSpc>
                <a:spcPct val="100000"/>
              </a:lnSpc>
            </a:pPr>
            <a:r>
              <a:rPr lang="en-IN" sz="1400" dirty="0" smtClean="0">
                <a:latin typeface="Times New Roman" pitchFamily="18" charset="0"/>
                <a:cs typeface="Times New Roman" pitchFamily="18" charset="0"/>
              </a:rPr>
              <a:t>Gupta, T. (2025). </a:t>
            </a:r>
            <a:r>
              <a:rPr lang="en-IN" sz="1400" i="1" dirty="0" smtClean="0">
                <a:latin typeface="Times New Roman" pitchFamily="18" charset="0"/>
                <a:cs typeface="Times New Roman" pitchFamily="18" charset="0"/>
              </a:rPr>
              <a:t>Applying ML Classification Algorithm &amp; Data Analysis on Placement Dataset.</a:t>
            </a:r>
            <a:r>
              <a:rPr lang="en-IN" sz="1400" dirty="0" smtClean="0">
                <a:latin typeface="Times New Roman" pitchFamily="18" charset="0"/>
                <a:cs typeface="Times New Roman" pitchFamily="18" charset="0"/>
              </a:rPr>
              <a:t> Medium Article. </a:t>
            </a:r>
          </a:p>
          <a:p>
            <a:pPr>
              <a:lnSpc>
                <a:spcPct val="100000"/>
              </a:lnSpc>
            </a:pPr>
            <a:r>
              <a:rPr lang="en-IN" sz="1400" dirty="0" err="1" smtClean="0">
                <a:latin typeface="Times New Roman" pitchFamily="18" charset="0"/>
                <a:cs typeface="Times New Roman" pitchFamily="18" charset="0"/>
              </a:rPr>
              <a:t>Muhajir</a:t>
            </a:r>
            <a:r>
              <a:rPr lang="en-IN" sz="1400" dirty="0" smtClean="0">
                <a:latin typeface="Times New Roman" pitchFamily="18" charset="0"/>
                <a:cs typeface="Times New Roman" pitchFamily="18" charset="0"/>
              </a:rPr>
              <a:t>, D. (2022). </a:t>
            </a:r>
            <a:r>
              <a:rPr lang="en-IN" sz="1400" i="1" dirty="0" smtClean="0">
                <a:latin typeface="Times New Roman" pitchFamily="18" charset="0"/>
                <a:cs typeface="Times New Roman" pitchFamily="18" charset="0"/>
              </a:rPr>
              <a:t>Improving Classification Algorithm on Education Dataset Using </a:t>
            </a:r>
            <a:r>
              <a:rPr lang="en-IN" sz="1400" i="1" dirty="0" err="1" smtClean="0">
                <a:latin typeface="Times New Roman" pitchFamily="18" charset="0"/>
                <a:cs typeface="Times New Roman" pitchFamily="18" charset="0"/>
              </a:rPr>
              <a:t>Hyperparameter</a:t>
            </a:r>
            <a:r>
              <a:rPr lang="en-IN" sz="1400" i="1" dirty="0" smtClean="0">
                <a:latin typeface="Times New Roman" pitchFamily="18" charset="0"/>
                <a:cs typeface="Times New Roman" pitchFamily="18" charset="0"/>
              </a:rPr>
              <a:t> Tuning.</a:t>
            </a:r>
            <a:r>
              <a:rPr lang="en-IN" sz="1400" dirty="0" smtClean="0">
                <a:latin typeface="Times New Roman" pitchFamily="18" charset="0"/>
                <a:cs typeface="Times New Roman" pitchFamily="18" charset="0"/>
              </a:rPr>
              <a:t> </a:t>
            </a:r>
            <a:r>
              <a:rPr lang="en-IN" sz="1400" dirty="0" err="1" smtClean="0">
                <a:latin typeface="Times New Roman" pitchFamily="18" charset="0"/>
                <a:cs typeface="Times New Roman" pitchFamily="18" charset="0"/>
              </a:rPr>
              <a:t>Procedia</a:t>
            </a:r>
            <a:r>
              <a:rPr lang="en-IN" sz="1400" dirty="0" smtClean="0">
                <a:latin typeface="Times New Roman" pitchFamily="18" charset="0"/>
                <a:cs typeface="Times New Roman" pitchFamily="18" charset="0"/>
              </a:rPr>
              <a:t> Computer Science. </a:t>
            </a:r>
          </a:p>
          <a:p>
            <a:pPr marL="0" indent="0">
              <a:lnSpc>
                <a:spcPct val="100000"/>
              </a:lnSpc>
              <a:buNone/>
            </a:pPr>
            <a:endParaRPr lang="en-IN" sz="1400" dirty="0" smtClean="0">
              <a:latin typeface="Times New Roman" pitchFamily="18" charset="0"/>
              <a:cs typeface="Times New Roman" pitchFamily="18" charset="0"/>
            </a:endParaRPr>
          </a:p>
          <a:p>
            <a:pPr marL="0" indent="0">
              <a:lnSpc>
                <a:spcPct val="100000"/>
              </a:lnSpc>
              <a:buNone/>
            </a:pPr>
            <a:r>
              <a:rPr lang="en-IN" sz="1400" dirty="0" smtClean="0">
                <a:latin typeface="Times New Roman" pitchFamily="18" charset="0"/>
                <a:cs typeface="Times New Roman" pitchFamily="18" charset="0"/>
              </a:rPr>
              <a:t> </a:t>
            </a:r>
            <a:r>
              <a:rPr lang="en-IN" sz="1400" dirty="0" smtClean="0">
                <a:latin typeface="Times New Roman" pitchFamily="18" charset="0"/>
                <a:cs typeface="Times New Roman" pitchFamily="18" charset="0"/>
              </a:rPr>
              <a:t> </a:t>
            </a:r>
            <a:r>
              <a:rPr lang="en-IN" sz="1400" dirty="0" smtClean="0">
                <a:latin typeface="Times New Roman" pitchFamily="18" charset="0"/>
                <a:cs typeface="Times New Roman" pitchFamily="18" charset="0"/>
              </a:rPr>
              <a:t>GitHub Link:</a:t>
            </a:r>
            <a:r>
              <a:rPr lang="en-IN" sz="1400" dirty="0" smtClean="0">
                <a:solidFill>
                  <a:srgbClr val="0070C0"/>
                </a:solidFill>
                <a:latin typeface="Times New Roman" pitchFamily="18" charset="0"/>
                <a:cs typeface="Times New Roman" pitchFamily="18" charset="0"/>
              </a:rPr>
              <a:t> https://github.com/animallavimalkumar/Campus_Placement_Analysis</a:t>
            </a:r>
            <a:endParaRPr lang="en-IN" sz="1400" u="sng" dirty="0" smtClean="0">
              <a:solidFill>
                <a:srgbClr val="0070C0"/>
              </a:solidFill>
              <a:latin typeface="Times New Roman" pitchFamily="18" charset="0"/>
              <a:cs typeface="Times New Roman" pitchFamily="18" charset="0"/>
            </a:endParaRPr>
          </a:p>
          <a:p>
            <a:pPr marL="0" indent="0">
              <a:lnSpc>
                <a:spcPct val="100000"/>
              </a:lnSpc>
              <a:buNone/>
            </a:pPr>
            <a:endParaRPr lang="en-IN" sz="1400" u="sng" dirty="0" smtClean="0">
              <a:solidFill>
                <a:srgbClr val="0070C0"/>
              </a:solidFill>
              <a:latin typeface="Times New Roman" pitchFamily="18" charset="0"/>
              <a:cs typeface="Times New Roman" pitchFamily="18" charset="0"/>
            </a:endParaRPr>
          </a:p>
          <a:p>
            <a:pPr marL="0" indent="0">
              <a:lnSpc>
                <a:spcPct val="100000"/>
              </a:lnSpc>
              <a:buNone/>
            </a:pPr>
            <a:endParaRPr lang="en-IN" sz="1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p>
        </p:txBody>
      </p:sp>
    </p:spTree>
    <p:custDataLst>
      <p:tags r:id="rId1"/>
    </p:custData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TotalTime>
  <Words>962</Words>
  <Application>Microsoft Office PowerPoint</Application>
  <PresentationFormat>Custom</PresentationFormat>
  <Paragraphs>80</Paragraphs>
  <Slides>12</Slides>
  <Notes>2</Notes>
  <HiddenSlides>0</HiddenSlides>
  <MMClips>0</MMClips>
  <ScaleCrop>false</ScaleCrop>
  <HeadingPairs>
    <vt:vector size="4" baseType="variant">
      <vt:variant>
        <vt:lpstr>Theme</vt:lpstr>
      </vt:variant>
      <vt:variant>
        <vt:i4>2</vt:i4>
      </vt:variant>
      <vt:variant>
        <vt:lpstr>Slide Titles</vt:lpstr>
      </vt:variant>
      <vt:variant>
        <vt:i4>12</vt:i4>
      </vt:variant>
    </vt:vector>
  </HeadingPairs>
  <TitlesOfParts>
    <vt:vector size="14" baseType="lpstr">
      <vt:lpstr>1_Office Theme</vt:lpstr>
      <vt:lpstr>Custom Design</vt:lpstr>
      <vt:lpstr>Slide 1</vt:lpstr>
      <vt:lpstr>OUTLINE:</vt:lpstr>
      <vt:lpstr>Problem Statement:</vt:lpstr>
      <vt:lpstr>Proposed Solution:</vt:lpstr>
      <vt:lpstr>System  Approach:</vt:lpstr>
      <vt:lpstr>Algorithm &amp; Deployment:</vt:lpstr>
      <vt:lpstr>Result:</vt:lpstr>
      <vt:lpstr>Slide 8</vt:lpstr>
      <vt:lpstr>Conclusion:</vt:lpstr>
      <vt:lpstr>Future scope:</vt:lpstr>
      <vt:lpstr>References:</vt:lpstr>
      <vt:lpstr>Slide 12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navaneetha</cp:lastModifiedBy>
  <cp:revision>105</cp:revision>
  <dcterms:created xsi:type="dcterms:W3CDTF">2024-05-21T11:55:00Z</dcterms:created>
  <dcterms:modified xsi:type="dcterms:W3CDTF">2026-03-14T08:01:46Z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EE4E1345D65D4F85A477FE2A1A549664_12</vt:lpwstr>
  </property>
  <property fmtid="{D5CDD505-2E9C-101B-9397-08002B2CF9AE}" pid="5" name="KSOProductBuildVer">
    <vt:lpwstr>1033-12.2.0.23155</vt:lpwstr>
  </property>
</Properties>
</file>